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63336" y="1371600"/>
            <a:ext cx="9154015" cy="250371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04891" y="1828800"/>
            <a:ext cx="257916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63238"/>
                </a:solidFill>
                <a:latin typeface="Arial"/>
              </a:defRPr>
            </a:pPr>
            <a:r>
              <a:rPr dirty="0" err="1" smtClean="0"/>
              <a:t>TableTap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528364" y="2639942"/>
            <a:ext cx="7268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F00"/>
                </a:solidFill>
                <a:latin typeface="Arial"/>
              </a:defRPr>
            </a:pPr>
            <a:r>
              <a:rPr lang="en-US" dirty="0"/>
              <a:t>An Intelligent QR-Integrated HMS Using AI and ML for Operational Optimization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273549" y="5142353"/>
            <a:ext cx="33906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63238"/>
                </a:solidFill>
                <a:latin typeface="Arial"/>
              </a:defRPr>
            </a:pPr>
            <a:r>
              <a:rPr b="1" dirty="0"/>
              <a:t>Guide: KARROTHU ARAVIND</a:t>
            </a: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Restaurants often face operational bottlenecks in taking orders, managing inventory, and communicating with the kitchen.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00400" cy="2286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Current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Heavy reliance on paper tickets, manual billing, and poor integration leads to delayed service and customer dissatisfaction.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00400" cy="2286000"/>
          </a:xfrm>
          <a:prstGeom prst="roundRect">
            <a:avLst/>
          </a:prstGeom>
          <a:solidFill>
            <a:srgbClr val="FFB74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Proposed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774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A smart QR-based ordering system with integrated real-time kitchen tracking, staff management, and analytics.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743200"/>
            <a:ext cx="36576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680960" y="2743200"/>
            <a:ext cx="36576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43200" y="4572000"/>
            <a:ext cx="670255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4663440"/>
            <a:ext cx="6519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Significance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120640"/>
            <a:ext cx="6519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Reduces wait times, streamlines restaurant operations, increases order accuracy, and provides data-driven business insights.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77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Current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77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Traditional dining experiences suffer from slow waiter responsiveness, inaccurate order tracking, and a lack of integrated digital solutions for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4937760" cy="18288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Limitations of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• High dependency on manual labor</a:t>
            </a:r>
            <a:br/>
            <a:r>
              <a:t>• Lack of real-time inventory updates</a:t>
            </a:r>
            <a:br/>
            <a:r>
              <a:t>• Poor customer feedback loops</a:t>
            </a:r>
            <a:br/>
            <a:r>
              <a:t>• Difficulty tracking staff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4937760" cy="1828800"/>
          </a:xfrm>
          <a:prstGeom prst="roundRect">
            <a:avLst/>
          </a:prstGeom>
          <a:solidFill>
            <a:srgbClr val="FFB74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Need for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rPr dirty="0"/>
              <a:t>A unified cloud-based ecosystem </a:t>
            </a:r>
            <a:r>
              <a:rPr dirty="0" smtClean="0"/>
              <a:t>(</a:t>
            </a:r>
            <a:r>
              <a:rPr lang="en-US" dirty="0" err="1" smtClean="0"/>
              <a:t>TableTap</a:t>
            </a:r>
            <a:r>
              <a:rPr dirty="0" smtClean="0"/>
              <a:t>) </a:t>
            </a:r>
            <a:r>
              <a:rPr dirty="0"/>
              <a:t>is needed to seamlessly connect customers, waiters, kitchen staff, and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9445752" cy="731520"/>
          </a:xfrm>
          <a:prstGeom prst="roundRect">
            <a:avLst/>
          </a:prstGeom>
          <a:solidFill>
            <a:srgbClr val="FFE0B2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737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  <a:r>
              <a:t>Digital Ordering: Implement a QR-based menu and direct ordering system for customers.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731520" cy="731520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06040"/>
            <a:ext cx="9445752" cy="731520"/>
          </a:xfrm>
          <a:prstGeom prst="roundRect">
            <a:avLst/>
          </a:prstGeom>
          <a:solidFill>
            <a:srgbClr val="FFE0B2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2697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  <a:r>
              <a:t>Real-Time Tracking: Provide real-time order tracking and kitchen ticket management.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66160"/>
            <a:ext cx="731520" cy="731520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566160"/>
            <a:ext cx="9445752" cy="731520"/>
          </a:xfrm>
          <a:prstGeom prst="roundRect">
            <a:avLst/>
          </a:prstGeom>
          <a:solidFill>
            <a:srgbClr val="FFE0B2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3657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  <a:r>
              <a:t>Staff Management: Develop modules for waiter requests, staff attendance, and performance tracking.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26280"/>
            <a:ext cx="731520" cy="731520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526280"/>
            <a:ext cx="9445752" cy="731520"/>
          </a:xfrm>
          <a:prstGeom prst="roundRect">
            <a:avLst/>
          </a:prstGeom>
          <a:solidFill>
            <a:srgbClr val="FFE0B2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4617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  <a:r>
              <a:t>Inventory &amp; Admin: Enable admin dashboards for inventory tracking and sales analytics.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486400"/>
            <a:ext cx="731520" cy="731520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9445752" cy="731520"/>
          </a:xfrm>
          <a:prstGeom prst="roundRect">
            <a:avLst/>
          </a:prstGeom>
          <a:solidFill>
            <a:srgbClr val="FFE0B2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55778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  <a:r>
              <a:t>Customer Loyalty: Integrate customer loyalty programs, promotions, and digital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011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Customer scans QR code</a:t>
            </a:r>
            <a:br/>
            <a:r>
              <a:t>Browse Menu</a:t>
            </a:r>
            <a:br/>
            <a:r>
              <a:t>Places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743200"/>
            <a:ext cx="2011680" cy="18288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918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Order Validation</a:t>
            </a:r>
            <a:br/>
            <a:r>
              <a:t>Discount applied</a:t>
            </a:r>
            <a:br/>
            <a:r>
              <a:t>Payment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743200"/>
            <a:ext cx="2011680" cy="1828800"/>
          </a:xfrm>
          <a:prstGeom prst="roundRect">
            <a:avLst/>
          </a:prstGeom>
          <a:solidFill>
            <a:srgbClr val="FFB74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CORE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Kitchen display update</a:t>
            </a:r>
            <a:br/>
            <a:r>
              <a:t>Waiter notification</a:t>
            </a:r>
            <a:br/>
            <a:r>
              <a:t>Inventory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743200"/>
            <a:ext cx="2011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2834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918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Supabase PostgreSQL</a:t>
            </a:r>
            <a:br/>
            <a:r>
              <a:t>Save transaction</a:t>
            </a:r>
            <a:br/>
            <a:r>
              <a:t>Update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743200"/>
            <a:ext cx="1645920" cy="18288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0" y="28346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32918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63238"/>
                </a:solidFill>
                <a:latin typeface="Arial"/>
              </a:defRPr>
            </a:pPr>
            <a:r>
              <a:t>Food served</a:t>
            </a:r>
            <a:br/>
            <a:r>
              <a:t>Admin Analytics</a:t>
            </a:r>
            <a:br/>
            <a:r>
              <a:t>Loyalty Points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14600" y="3474720"/>
            <a:ext cx="32004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4983480" y="3474720"/>
            <a:ext cx="32004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452360" y="3474720"/>
            <a:ext cx="32004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9921240" y="3474720"/>
            <a:ext cx="320040" cy="365760"/>
          </a:xfrm>
          <a:prstGeom prst="rightArrow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323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3440" y="1828800"/>
            <a:ext cx="10329672" cy="29347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77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7259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  <a:r>
              <a:rPr sz="2000" dirty="0"/>
              <a:t>• </a:t>
            </a:r>
            <a:r>
              <a:rPr lang="en-US" sz="2000" dirty="0" err="1" smtClean="0"/>
              <a:t>TableTap</a:t>
            </a:r>
            <a:r>
              <a:rPr lang="en-US" sz="2000" dirty="0" smtClean="0"/>
              <a:t> </a:t>
            </a:r>
            <a:r>
              <a:rPr sz="2000" dirty="0" smtClean="0"/>
              <a:t>transforms </a:t>
            </a:r>
            <a:r>
              <a:rPr sz="2000" dirty="0"/>
              <a:t>the traditional dining experience through end-to-end digitalization.</a:t>
            </a:r>
            <a:br>
              <a:rPr sz="2000" dirty="0"/>
            </a:br>
            <a:r>
              <a:rPr sz="2000" dirty="0"/>
              <a:t>• </a:t>
            </a:r>
            <a:r>
              <a:rPr lang="en-US" sz="2000" dirty="0" smtClean="0"/>
              <a:t> W</a:t>
            </a:r>
            <a:r>
              <a:rPr sz="2000" dirty="0" smtClean="0"/>
              <a:t>e </a:t>
            </a:r>
            <a:r>
              <a:rPr sz="2000" dirty="0"/>
              <a:t>achieve real-time synchronization </a:t>
            </a:r>
            <a:r>
              <a:rPr sz="2000" dirty="0" smtClean="0"/>
              <a:t>between</a:t>
            </a:r>
            <a:r>
              <a:rPr lang="en-US" sz="2000" dirty="0"/>
              <a:t> </a:t>
            </a:r>
            <a:r>
              <a:rPr sz="2000" dirty="0" smtClean="0"/>
              <a:t>customers</a:t>
            </a:r>
            <a:r>
              <a:rPr sz="2000" dirty="0"/>
              <a:t>, waiters, and kitchen staff.</a:t>
            </a:r>
            <a:br>
              <a:rPr sz="2000" dirty="0"/>
            </a:br>
            <a:r>
              <a:rPr sz="2000" dirty="0"/>
              <a:t>• The system significantly reduces manual errors, accelerates service </a:t>
            </a:r>
            <a:r>
              <a:rPr sz="2000" dirty="0" smtClean="0"/>
              <a:t>provid</a:t>
            </a:r>
            <a:r>
              <a:rPr lang="en-US" sz="2000" dirty="0" smtClean="0"/>
              <a:t>es     </a:t>
            </a:r>
          </a:p>
          <a:p>
            <a:pPr>
              <a:defRPr sz="1400">
                <a:solidFill>
                  <a:srgbClr val="263238"/>
                </a:solidFill>
                <a:latin typeface="Arial"/>
              </a:defRPr>
            </a:pPr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sz="2000" dirty="0" smtClean="0"/>
              <a:t>business </a:t>
            </a:r>
            <a:r>
              <a:rPr sz="2000" dirty="0"/>
              <a:t>analytics for management.</a:t>
            </a:r>
            <a:br>
              <a:rPr sz="2000" dirty="0"/>
            </a:br>
            <a:r>
              <a:rPr sz="2000" dirty="0"/>
              <a:t>• Expected Outcome: A fully functional, responsive, and scalable hotel management </a:t>
            </a:r>
            <a:r>
              <a:rPr lang="en-US" sz="2000" dirty="0" smtClean="0"/>
              <a:t>            </a:t>
            </a:r>
          </a:p>
          <a:p>
            <a:pPr>
              <a:defRPr sz="1400">
                <a:solidFill>
                  <a:srgbClr val="263238"/>
                </a:solidFill>
                <a:latin typeface="Arial"/>
              </a:defRPr>
            </a:pPr>
            <a:r>
              <a:rPr lang="en-US" sz="2000" dirty="0"/>
              <a:t> </a:t>
            </a:r>
            <a:r>
              <a:rPr lang="en-US" sz="2000" dirty="0" smtClean="0"/>
              <a:t>  </a:t>
            </a:r>
            <a:r>
              <a:rPr sz="2000" dirty="0" smtClean="0"/>
              <a:t>web</a:t>
            </a:r>
            <a:r>
              <a:rPr lang="en-US" sz="2000" dirty="0"/>
              <a:t> </a:t>
            </a:r>
            <a:r>
              <a:rPr sz="2000" dirty="0" smtClean="0"/>
              <a:t>application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4674" y="5403669"/>
            <a:ext cx="172720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8F00"/>
                </a:solidFill>
                <a:latin typeface="Arial"/>
              </a:defRPr>
            </a:pPr>
            <a:r>
              <a:rPr dirty="0"/>
              <a:t>Thank You</a:t>
            </a:r>
            <a:br>
              <a:rPr dirty="0"/>
            </a:b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279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Dell-vitap</cp:lastModifiedBy>
  <cp:revision>2</cp:revision>
  <dcterms:created xsi:type="dcterms:W3CDTF">2013-01-27T09:14:16Z</dcterms:created>
  <dcterms:modified xsi:type="dcterms:W3CDTF">2026-08-17T08:22:34Z</dcterms:modified>
  <cp:category/>
</cp:coreProperties>
</file>